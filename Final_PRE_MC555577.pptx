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0" r:id="rId5"/>
    <p:sldId id="264" r:id="rId6"/>
    <p:sldId id="266" r:id="rId7"/>
    <p:sldId id="267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59"/>
  </p:normalViewPr>
  <p:slideViewPr>
    <p:cSldViewPr snapToGrid="0" snapToObjects="1">
      <p:cViewPr varScale="1">
        <p:scale>
          <a:sx n="79" d="100"/>
          <a:sy n="79" d="100"/>
        </p:scale>
        <p:origin x="12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11B43-F7C8-3F49-A15B-0BF9F87FA5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917A-3327-B942-BA3D-398E90B5835F}" type="datetimeFigureOut">
              <a:rPr lang="en-US" smtClean="0"/>
              <a:t>11/18/2025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“Welcome! Today I’ll present my project: </a:t>
            </a:r>
            <a:r>
              <a:rPr lang="en-US" altLang="zh-CN" i="1" dirty="0"/>
              <a:t>Smart Retrofit Kit for Legacy Air Conditioners</a:t>
            </a:r>
            <a:r>
              <a:rPr lang="en-US" altLang="zh-CN" dirty="0"/>
              <a:t>. This solution modernizes old AC units with smart control and connectivity.”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26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“Inspired by cost-effective upgrades in other domains, like UMPK kits for old bombs, we apply similar logic to home appliances. Legacy AC units lack networking and smart features. By adding a smart gateway, we enable remote control, intelligent adjustment, and extend lifespan.”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6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My system runs on STM32F407 with </a:t>
            </a:r>
            <a:r>
              <a:rPr lang="en-US" altLang="zh-CN" dirty="0" err="1"/>
              <a:t>FreeRTOS</a:t>
            </a:r>
            <a:r>
              <a:rPr lang="en-US" altLang="zh-CN" dirty="0"/>
              <a:t>. Key modules:</a:t>
            </a:r>
          </a:p>
          <a:p>
            <a:r>
              <a:rPr lang="en-US" altLang="zh-CN" dirty="0"/>
              <a:t>SHT30 sensor for temperature/humidity</a:t>
            </a:r>
          </a:p>
          <a:p>
            <a:r>
              <a:rPr lang="en-US" altLang="zh-CN" dirty="0"/>
              <a:t>IR transmitter/receiver for AC control</a:t>
            </a:r>
          </a:p>
          <a:p>
            <a:r>
              <a:rPr lang="en-US" altLang="zh-CN" dirty="0"/>
              <a:t>ESP8266 for Wi-Fi</a:t>
            </a:r>
            <a:br>
              <a:rPr lang="en-US" altLang="zh-CN" dirty="0"/>
            </a:br>
            <a:r>
              <a:rPr lang="en-US" altLang="zh-CN" dirty="0"/>
              <a:t>Interfaces include I2C, UART, PWM, GPIO.</a:t>
            </a:r>
            <a:br>
              <a:rPr lang="en-US" altLang="zh-CN" dirty="0"/>
            </a:br>
            <a:r>
              <a:rPr lang="en-US" altLang="zh-CN" dirty="0"/>
              <a:t>Simulation uses QEMU plus Python bridge for testing.”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79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 designed five tasks:</a:t>
            </a:r>
          </a:p>
          <a:p>
            <a:r>
              <a:rPr lang="en-US" altLang="zh-CN" dirty="0"/>
              <a:t>Sensor Task reads environment data</a:t>
            </a:r>
          </a:p>
          <a:p>
            <a:r>
              <a:rPr lang="en-US" altLang="zh-CN" dirty="0"/>
              <a:t>IR Task sends NEC protocol commands</a:t>
            </a:r>
          </a:p>
          <a:p>
            <a:r>
              <a:rPr lang="en-US" altLang="zh-CN" dirty="0"/>
              <a:t>Control Task merges data and applies AI suggestions</a:t>
            </a:r>
          </a:p>
          <a:p>
            <a:r>
              <a:rPr lang="en-US" altLang="zh-CN" dirty="0" err="1"/>
              <a:t>WiFi</a:t>
            </a:r>
            <a:r>
              <a:rPr lang="en-US" altLang="zh-CN" dirty="0"/>
              <a:t> Task manages ESP8266</a:t>
            </a:r>
          </a:p>
          <a:p>
            <a:r>
              <a:rPr lang="en-US" altLang="zh-CN" dirty="0"/>
              <a:t>Bridge Task handles external communication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8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“Tasks communicate via </a:t>
            </a:r>
            <a:r>
              <a:rPr lang="en-US" altLang="zh-CN" dirty="0" err="1"/>
              <a:t>FreeRTOS</a:t>
            </a:r>
            <a:r>
              <a:rPr lang="en-US" altLang="zh-CN" dirty="0"/>
              <a:t> queues and </a:t>
            </a:r>
            <a:r>
              <a:rPr lang="en-US" altLang="zh-CN" dirty="0" err="1"/>
              <a:t>mutex.Queues</a:t>
            </a:r>
            <a:r>
              <a:rPr lang="en-US" altLang="zh-CN" dirty="0"/>
              <a:t>: Sensor → Control → Bridge; External → </a:t>
            </a:r>
            <a:r>
              <a:rPr lang="en-US" altLang="zh-CN" dirty="0" err="1"/>
              <a:t>IRMutex</a:t>
            </a:r>
            <a:r>
              <a:rPr lang="en-US" altLang="zh-CN" dirty="0"/>
              <a:t> protects I2C and shared </a:t>
            </a:r>
            <a:r>
              <a:rPr lang="en-US" altLang="zh-CN" dirty="0" err="1"/>
              <a:t>resourcesPatterns</a:t>
            </a:r>
            <a:r>
              <a:rPr lang="en-US" altLang="zh-CN" dirty="0"/>
              <a:t> include producer-consumer, synchronous messaging, and asynchronous updates.”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12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“In simulation, the Python bridge fetches weather data from Open-</a:t>
            </a:r>
            <a:r>
              <a:rPr lang="en-US" altLang="zh-CN" dirty="0" err="1"/>
              <a:t>Meteo</a:t>
            </a:r>
            <a:r>
              <a:rPr lang="en-US" altLang="zh-CN" dirty="0"/>
              <a:t> API. It sends JSON commands to QEMU via UART. </a:t>
            </a:r>
            <a:r>
              <a:rPr lang="en-US" altLang="zh-CN" dirty="0" err="1"/>
              <a:t>WiFi</a:t>
            </a:r>
            <a:r>
              <a:rPr lang="en-US" altLang="zh-CN" dirty="0"/>
              <a:t> Task simulates ESP8266 AT commands. This enables AI-based temperature suggestions.”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9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en-US" altLang="zh-CN" dirty="0" err="1"/>
              <a:t>SmartConfig</a:t>
            </a:r>
            <a:r>
              <a:rPr lang="en-US" altLang="zh-CN" dirty="0"/>
              <a:t> lets users set Wi-Fi without hardcoding credentials.</a:t>
            </a:r>
            <a:br>
              <a:rPr lang="en-US" altLang="zh-CN" dirty="0"/>
            </a:br>
            <a:r>
              <a:rPr lang="en-US" altLang="zh-CN" dirty="0"/>
              <a:t>Steps:</a:t>
            </a:r>
          </a:p>
          <a:p>
            <a:r>
              <a:rPr lang="en-US" altLang="zh-CN" dirty="0"/>
              <a:t>Mobile app broadcasts SSID and password</a:t>
            </a:r>
          </a:p>
          <a:p>
            <a:r>
              <a:rPr lang="en-US" altLang="zh-CN" dirty="0"/>
              <a:t>ESP8266 listens and connects</a:t>
            </a:r>
          </a:p>
          <a:p>
            <a:r>
              <a:rPr lang="en-US" altLang="zh-CN" dirty="0"/>
              <a:t>Web interface shows ‘Connected’.</a:t>
            </a:r>
            <a:br>
              <a:rPr lang="en-US" altLang="zh-CN" dirty="0"/>
            </a:br>
            <a:r>
              <a:rPr lang="en-US" altLang="zh-CN" dirty="0"/>
              <a:t>This works even in QEMU simulation.”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07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“The web interface provides real-time status and control:</a:t>
            </a:r>
          </a:p>
          <a:p>
            <a:r>
              <a:rPr lang="en-US" altLang="zh-CN" dirty="0"/>
              <a:t>Power ON/OFF</a:t>
            </a:r>
          </a:p>
          <a:p>
            <a:r>
              <a:rPr lang="en-US" altLang="zh-CN" dirty="0"/>
              <a:t>Temperature and mode settings</a:t>
            </a:r>
          </a:p>
          <a:p>
            <a:r>
              <a:rPr lang="en-US" altLang="zh-CN" dirty="0"/>
              <a:t>Smart features like AI suggestions</a:t>
            </a:r>
          </a:p>
          <a:p>
            <a:r>
              <a:rPr lang="en-US" altLang="zh-CN" dirty="0"/>
              <a:t>Timer and scheduling options.</a:t>
            </a:r>
            <a:br>
              <a:rPr lang="en-US" altLang="zh-CN" dirty="0"/>
            </a:br>
            <a:r>
              <a:rPr lang="en-US" altLang="zh-CN" dirty="0"/>
              <a:t>It’s bilingual and updates continuously.”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9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“Thank you for listening! I’m happy to take questions.”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11B43-F7C8-3F49-A15B-0BF9F87FA5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9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50CF25-F9B6-EA4B-991F-E50888CA6F8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44EC55-A5CE-3B42-93D4-76B99530748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3659218"/>
            <a:ext cx="10515600" cy="1467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872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996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610600" y="6549990"/>
            <a:ext cx="2743200" cy="365125"/>
          </a:xfrm>
        </p:spPr>
        <p:txBody>
          <a:bodyPr/>
          <a:lstStyle/>
          <a:p>
            <a:fld id="{0A50CF25-F9B6-EA4B-991F-E50888CA6F8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838200" y="6551447"/>
            <a:ext cx="2743200" cy="365125"/>
          </a:xfrm>
        </p:spPr>
        <p:txBody>
          <a:bodyPr/>
          <a:lstStyle/>
          <a:p>
            <a:fld id="{9A44EC55-A5CE-3B42-93D4-76B99530748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78667"/>
            <a:ext cx="2743200" cy="365125"/>
          </a:xfrm>
        </p:spPr>
        <p:txBody>
          <a:bodyPr/>
          <a:lstStyle/>
          <a:p>
            <a:fld id="{A359ACD4-C0BF-5A4F-8770-255E08A938D5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577210"/>
            <a:ext cx="2743200" cy="365125"/>
          </a:xfrm>
        </p:spPr>
        <p:txBody>
          <a:bodyPr/>
          <a:lstStyle/>
          <a:p>
            <a:fld id="{0A50CF25-F9B6-EA4B-991F-E50888CA6F8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1223"/>
            <a:ext cx="10515600" cy="10134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838200" y="2536714"/>
            <a:ext cx="10515600" cy="35238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8200" y="3667919"/>
            <a:ext cx="10515600" cy="142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838200" y="2569389"/>
            <a:ext cx="10515600" cy="101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10600" y="65211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0CF25-F9B6-EA4B-991F-E50888CA6F8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38200" y="65225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E14B-A5C0-7C44-88C3-51ECD97D89CF}" type="datetime1">
              <a:rPr lang="en-US" smtClean="0"/>
              <a:t>11/18/2025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1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1" r:id="rId2"/>
    <p:sldLayoutId id="2147483660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ENSOR_project/project2_copy/scripts/%5b1%5dstart_working.ba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8030" y="2368507"/>
            <a:ext cx="1019593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36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Smart Retrofit Kit for Legacy Air Conditioners</a:t>
            </a:r>
          </a:p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MC555577</a:t>
            </a:r>
          </a:p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Wei </a:t>
            </a:r>
            <a:r>
              <a:rPr lang="en-US" altLang="zh-TW" sz="24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JianNan</a:t>
            </a:r>
            <a:r>
              <a:rPr lang="en-US" altLang="zh-TW" sz="2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164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9CFD-886B-5CA5-6D1E-1F067166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8D0DE4F7-D12C-33DA-23D3-13BBC124F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65068" y="242653"/>
            <a:ext cx="5473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3600" b="1" dirty="0">
                <a:ea typeface="Arial" charset="0"/>
                <a:cs typeface="Arial" charset="0"/>
              </a:rPr>
              <a:t>Motivation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7E0007-02F7-9FC6-F6C7-A0412CE08CC7}"/>
              </a:ext>
            </a:extLst>
          </p:cNvPr>
          <p:cNvSpPr txBox="1"/>
          <p:nvPr/>
        </p:nvSpPr>
        <p:spPr>
          <a:xfrm>
            <a:off x="357909" y="888984"/>
            <a:ext cx="57380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Military </a:t>
            </a:r>
            <a:r>
              <a:rPr lang="en-US" altLang="zh-CN" sz="2400" b="1" dirty="0" err="1"/>
              <a:t>Domain:Russia</a:t>
            </a:r>
            <a:r>
              <a:rPr lang="en-US" altLang="zh-CN" sz="2400" b="1" dirty="0"/>
              <a:t>–Ukraine conflict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UMPK kits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dirty="0"/>
              <a:t>upgraded Cold War-era FAB bombs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dirty="0"/>
              <a:t>enabling precision guidance at low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Su-34 fighter jets with UMPK(FAB-500M62)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B9BBC4-078E-E0A9-2C3B-8A2DB693DC28}"/>
              </a:ext>
            </a:extLst>
          </p:cNvPr>
          <p:cNvSpPr txBox="1"/>
          <p:nvPr/>
        </p:nvSpPr>
        <p:spPr>
          <a:xfrm>
            <a:off x="6481619" y="751344"/>
            <a:ext cx="66270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Home Appliance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Domain:Similarly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DengXian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legacy AC lack networking capabilities.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By adding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smart control gateway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remote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control&amp;web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DengXian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intelligent adjustment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extended lifespan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DengXian" panose="02010600030101010101" pitchFamily="2" charset="-122"/>
                <a:cs typeface="+mn-cs"/>
              </a:rPr>
              <a:t>—a cost-effective modernization.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510267-DB10-68A0-48DE-9FD1A1C04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22" t="17780" r="4581" b="15848"/>
          <a:stretch>
            <a:fillRect/>
          </a:stretch>
        </p:blipFill>
        <p:spPr>
          <a:xfrm>
            <a:off x="3031238" y="2992119"/>
            <a:ext cx="2017810" cy="17237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5C0974-961F-A38C-FA27-4CFDAAD9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753" y="3429000"/>
            <a:ext cx="3195947" cy="2130631"/>
          </a:xfrm>
          <a:prstGeom prst="rect">
            <a:avLst/>
          </a:prstGeom>
        </p:spPr>
      </p:pic>
      <p:pic>
        <p:nvPicPr>
          <p:cNvPr id="1028" name="Picture 4" descr="Image 1 of 1">
            <a:extLst>
              <a:ext uri="{FF2B5EF4-FFF2-40B4-BE49-F238E27FC236}">
                <a16:creationId xmlns:a16="http://schemas.microsoft.com/office/drawing/2014/main" id="{9A3D7FF5-0C77-5116-5B39-97EA4757F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90" y="2992119"/>
            <a:ext cx="2595988" cy="172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EF09794-1511-6050-DED5-B97AEAF498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129" t="1420" r="23068" b="4646"/>
          <a:stretch>
            <a:fillRect/>
          </a:stretch>
        </p:blipFill>
        <p:spPr>
          <a:xfrm>
            <a:off x="7142953" y="3429000"/>
            <a:ext cx="1603800" cy="2130631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5057F80-F572-0122-3CCC-89876F0A4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696" y="4715855"/>
            <a:ext cx="3222936" cy="181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20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101B-EE51-2D7E-269F-2F031004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14C7F6B0-7BFD-CF49-7D4B-CC52282C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3251" y="97378"/>
            <a:ext cx="86850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3600" b="1" dirty="0">
                <a:ea typeface="Arial" charset="0"/>
                <a:cs typeface="Arial" charset="0"/>
              </a:rPr>
              <a:t>Hardware Modules/simulation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97F3D0-AF23-4600-9557-58CFB601B686}"/>
              </a:ext>
            </a:extLst>
          </p:cNvPr>
          <p:cNvSpPr txBox="1"/>
          <p:nvPr/>
        </p:nvSpPr>
        <p:spPr>
          <a:xfrm>
            <a:off x="542637" y="2904805"/>
            <a:ext cx="76130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Hardware</a:t>
            </a:r>
          </a:p>
          <a:p>
            <a:pPr>
              <a:buNone/>
            </a:pPr>
            <a:r>
              <a:rPr lang="en-US" altLang="zh-CN" dirty="0"/>
              <a:t>MPS2-AN386 Platform (STM32F407 MCU running </a:t>
            </a:r>
            <a:r>
              <a:rPr lang="en-US" altLang="zh-CN" dirty="0" err="1"/>
              <a:t>FreeRTOS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altLang="zh-CN" dirty="0"/>
              <a:t>SHT30 Sensor – Temperature &amp; humidity monitoring (I2C, 0x44, 400kHz)</a:t>
            </a:r>
          </a:p>
          <a:p>
            <a:pPr>
              <a:buNone/>
            </a:pPr>
            <a:r>
              <a:rPr lang="en-US" altLang="zh-CN" dirty="0"/>
              <a:t>VS1838B IR Receiver – NEC protocol signal reception (GPIO PA0, 38kHz)</a:t>
            </a:r>
          </a:p>
          <a:p>
            <a:pPr>
              <a:buNone/>
            </a:pPr>
            <a:r>
              <a:rPr lang="en-US" altLang="zh-CN" dirty="0"/>
              <a:t>IR333C IR Transmitter – Infrared control for AC (PWM PA1, 38kHz)</a:t>
            </a:r>
          </a:p>
          <a:p>
            <a:pPr>
              <a:buNone/>
            </a:pPr>
            <a:r>
              <a:rPr lang="en-US" altLang="zh-CN" dirty="0"/>
              <a:t>ESP8266 Wi-Fi Module – Wireless connectivity (UART1, 115200 baud)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Interfaces: </a:t>
            </a:r>
            <a:r>
              <a:rPr lang="en-US" altLang="zh-CN" b="1" dirty="0"/>
              <a:t>I2C, UART, PWM, GPIO, HTTP, JSON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342CD8-C940-E5DE-DCE9-DB335331B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645" y="748819"/>
            <a:ext cx="4359589" cy="290639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796DC17-887F-53D1-14C4-E5D3B341A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10" y="748819"/>
            <a:ext cx="102269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AC Control Gateway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dirty="0"/>
              <a:t>with STM32F407 + FreeRTOS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</a:t>
            </a:r>
            <a:r>
              <a:rPr lang="zh-CN" altLang="zh-CN" dirty="0"/>
              <a:t>: temperature &amp; humidity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Infrared remote control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dirty="0"/>
              <a:t>for AC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connectivity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interface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dirty="0"/>
              <a:t>(remote access)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temperature suggestions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QEMU + Python simulation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dirty="0"/>
              <a:t>for testing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46288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3B51FA14-B617-91AC-3095-8DB5C9995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80341" y="30217"/>
            <a:ext cx="5473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3600" b="1" dirty="0">
                <a:ea typeface="Arial" charset="0"/>
                <a:cs typeface="Arial" charset="0"/>
              </a:rPr>
              <a:t>System Tasks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A0BF441-A12E-FF5B-BFE2-F7DB93F3E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5885"/>
              </p:ext>
            </p:extLst>
          </p:nvPr>
        </p:nvGraphicFramePr>
        <p:xfrm>
          <a:off x="418873" y="869086"/>
          <a:ext cx="11354254" cy="3859932"/>
        </p:xfrm>
        <a:graphic>
          <a:graphicData uri="http://schemas.openxmlformats.org/drawingml/2006/table">
            <a:tbl>
              <a:tblPr/>
              <a:tblGrid>
                <a:gridCol w="1457370">
                  <a:extLst>
                    <a:ext uri="{9D8B030D-6E8A-4147-A177-3AD203B41FA5}">
                      <a16:colId xmlns:a16="http://schemas.microsoft.com/office/drawing/2014/main" val="4014331008"/>
                    </a:ext>
                  </a:extLst>
                </a:gridCol>
                <a:gridCol w="2248852">
                  <a:extLst>
                    <a:ext uri="{9D8B030D-6E8A-4147-A177-3AD203B41FA5}">
                      <a16:colId xmlns:a16="http://schemas.microsoft.com/office/drawing/2014/main" val="1598664272"/>
                    </a:ext>
                  </a:extLst>
                </a:gridCol>
                <a:gridCol w="1970904">
                  <a:extLst>
                    <a:ext uri="{9D8B030D-6E8A-4147-A177-3AD203B41FA5}">
                      <a16:colId xmlns:a16="http://schemas.microsoft.com/office/drawing/2014/main" val="1510096357"/>
                    </a:ext>
                  </a:extLst>
                </a:gridCol>
                <a:gridCol w="2225614">
                  <a:extLst>
                    <a:ext uri="{9D8B030D-6E8A-4147-A177-3AD203B41FA5}">
                      <a16:colId xmlns:a16="http://schemas.microsoft.com/office/drawing/2014/main" val="2681953879"/>
                    </a:ext>
                  </a:extLst>
                </a:gridCol>
                <a:gridCol w="1786889">
                  <a:extLst>
                    <a:ext uri="{9D8B030D-6E8A-4147-A177-3AD203B41FA5}">
                      <a16:colId xmlns:a16="http://schemas.microsoft.com/office/drawing/2014/main" val="1945706947"/>
                    </a:ext>
                  </a:extLst>
                </a:gridCol>
                <a:gridCol w="1664625">
                  <a:extLst>
                    <a:ext uri="{9D8B030D-6E8A-4147-A177-3AD203B41FA5}">
                      <a16:colId xmlns:a16="http://schemas.microsoft.com/office/drawing/2014/main" val="1594476238"/>
                    </a:ext>
                  </a:extLst>
                </a:gridCol>
              </a:tblGrid>
              <a:tr h="35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Aspect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Sensor Task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IR Task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Control Task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WiFi Task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Bridge Task</a:t>
                      </a:r>
                      <a:endParaRPr lang="en-US" sz="160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185701"/>
                  </a:ext>
                </a:extLst>
              </a:tr>
              <a:tr h="66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Main Role</a:t>
                      </a:r>
                      <a:endParaRPr lang="en-US" sz="1600" dirty="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Collect environment data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Infrared AC control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System logic &amp; AI suggestion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Network connectivity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External communication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899695"/>
                  </a:ext>
                </a:extLst>
              </a:tr>
              <a:tr h="2846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Key Operations</a:t>
                      </a:r>
                      <a:endParaRPr lang="en-US" sz="1600" dirty="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- Read SHT30 via I2C every 2s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Convert raw data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Push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SensorData_t</a:t>
                      </a:r>
                      <a:endParaRPr lang="en-US" sz="1600" dirty="0"/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- Receive commands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Encode NEC protocol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Transmit IR signals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- Merge sensor data &amp; user input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Maintain system state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</a:t>
                      </a:r>
                      <a:r>
                        <a:rPr lang="en-US" sz="1600" b="1" dirty="0"/>
                        <a:t>Auto Suggestion</a:t>
                      </a:r>
                      <a:r>
                        <a:rPr lang="en-US" sz="1600" dirty="0"/>
                        <a:t>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Spring/Autumn: Outdoor ±1°C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Summer: Outdoor −4°C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• Winter: Outdoor +6°C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 Manage ESP8266 via UART</a:t>
                      </a:r>
                      <a:br>
                        <a:rPr lang="en-US" sz="1600"/>
                      </a:br>
                      <a:r>
                        <a:rPr lang="en-US" sz="1600"/>
                        <a:t>- Send AT commands</a:t>
                      </a:r>
                      <a:br>
                        <a:rPr lang="en-US" sz="1600"/>
                      </a:br>
                      <a:r>
                        <a:rPr lang="en-US" sz="1600"/>
                        <a:t>- Monitor link &amp; LED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- Format status as JSON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Send to Python/QEMU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Receive remote commands</a:t>
                      </a:r>
                    </a:p>
                  </a:txBody>
                  <a:tcPr marL="26400" marR="26400" marT="13200" marB="1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00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93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50A5-5E82-599A-12A3-A2CD2490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CACA2C9-C01B-D4CF-F0B5-4246DDA83B14}"/>
              </a:ext>
            </a:extLst>
          </p:cNvPr>
          <p:cNvSpPr txBox="1"/>
          <p:nvPr/>
        </p:nvSpPr>
        <p:spPr>
          <a:xfrm>
            <a:off x="237835" y="756366"/>
            <a:ext cx="101784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Communication Mechanisms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FreeRTOS</a:t>
            </a:r>
            <a:r>
              <a:rPr lang="en-US" altLang="zh-CN" sz="2400" b="1" dirty="0"/>
              <a:t> Queues</a:t>
            </a:r>
            <a:r>
              <a:rPr lang="en-US" altLang="zh-C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urier New" panose="02070309020205020404" pitchFamily="49" charset="0"/>
              </a:rPr>
              <a:t>xSensorQueue</a:t>
            </a:r>
            <a:r>
              <a:rPr lang="en-US" altLang="zh-CN" sz="2000" dirty="0"/>
              <a:t>: Sensor → Control / Bridge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urier New" panose="02070309020205020404" pitchFamily="49" charset="0"/>
              </a:rPr>
              <a:t>xCommandQueue</a:t>
            </a:r>
            <a:r>
              <a:rPr lang="en-US" altLang="zh-CN" sz="2000" dirty="0"/>
              <a:t>: External → IR /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urier New" panose="02070309020205020404" pitchFamily="49" charset="0"/>
              </a:rPr>
              <a:t>xStatusQueue</a:t>
            </a:r>
            <a:r>
              <a:rPr lang="en-US" altLang="zh-CN" sz="2000" dirty="0"/>
              <a:t>: Control → Bridge</a:t>
            </a:r>
          </a:p>
          <a:p>
            <a:r>
              <a:rPr lang="en-US" altLang="zh-CN" sz="2400" b="1" dirty="0"/>
              <a:t>Synchronization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Mutex (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xSystemMutex</a:t>
            </a:r>
            <a:r>
              <a:rPr lang="en-US" altLang="zh-CN" sz="2400" b="1" dirty="0"/>
              <a:t>)</a:t>
            </a:r>
            <a:r>
              <a:rPr lang="en-US" altLang="zh-C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Protects shared resources (I2C bus, global structures)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Timeout-based acquisition (100 </a:t>
            </a:r>
            <a:r>
              <a:rPr lang="en-US" altLang="zh-CN" sz="2000" dirty="0" err="1"/>
              <a:t>ms</a:t>
            </a:r>
            <a:r>
              <a:rPr lang="en-US" altLang="zh-CN" sz="2000" dirty="0"/>
              <a:t>) to prevent deadlocks</a:t>
            </a:r>
          </a:p>
          <a:p>
            <a:r>
              <a:rPr lang="en-US" altLang="zh-CN" sz="2400" b="1" dirty="0"/>
              <a:t>Communication Patterns:</a:t>
            </a:r>
            <a:r>
              <a:rPr lang="en-US" altLang="zh-C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Producer-Consumer:</a:t>
            </a:r>
            <a:r>
              <a:rPr lang="en-US" altLang="zh-CN" sz="2000" dirty="0"/>
              <a:t> Sensor → Control → Bridge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Synchronous:</a:t>
            </a:r>
            <a:r>
              <a:rPr lang="en-US" altLang="zh-CN" sz="2000" dirty="0"/>
              <a:t> Mutex + Queue-based messaging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Asynchronous:</a:t>
            </a:r>
            <a:r>
              <a:rPr lang="en-US" altLang="zh-CN" sz="2000" dirty="0"/>
              <a:t> Periodic sensor sampling, status broadcasting event-driven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None/>
            </a:pP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FC0FF0-FCF6-2846-3EFE-B5F43DC223F3}"/>
              </a:ext>
            </a:extLst>
          </p:cNvPr>
          <p:cNvSpPr txBox="1"/>
          <p:nvPr/>
        </p:nvSpPr>
        <p:spPr>
          <a:xfrm>
            <a:off x="237835" y="171591"/>
            <a:ext cx="90516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/>
              <a:t>Inter-Task Communication and Synchronization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4785D4F-8417-6C40-1340-B9C2E7EFB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1" r="31863" b="10756"/>
          <a:stretch>
            <a:fillRect/>
          </a:stretch>
        </p:blipFill>
        <p:spPr>
          <a:xfrm>
            <a:off x="7306667" y="756366"/>
            <a:ext cx="3965609" cy="387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3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28F4-9976-0D6B-374F-22273FC7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0F0F339-C7E3-D87D-C6AF-0355BA4ADA8D}"/>
              </a:ext>
            </a:extLst>
          </p:cNvPr>
          <p:cNvSpPr txBox="1"/>
          <p:nvPr/>
        </p:nvSpPr>
        <p:spPr>
          <a:xfrm>
            <a:off x="237834" y="171591"/>
            <a:ext cx="11538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/>
              <a:t>Weather API/WIFI/Web Integration in Simulation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8E09B-36BE-0A2D-5243-89FD3CE677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7833" y="887709"/>
            <a:ext cx="1040245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Bridge Server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middleware between QEMU firmware and the internet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HTTP requests to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Open-Meteo API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fetch real-time weather data for Macau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Transmission Workflow: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Call: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Bridge Server → Weather API → JSON 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Packaging: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Bridge Server converts weather suggestion into JSON commands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QEMU Simulation: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 Task simulates ESP8266 AT command interaction via UART1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Receives JSON commands from Bridge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092CED-3C34-01B7-FE46-74A69C471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237" y="2866874"/>
            <a:ext cx="4655128" cy="31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21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98D1-5CF3-8452-CE80-AA062E95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975A766-9956-0EA9-66D8-D9DD2D41D975}"/>
              </a:ext>
            </a:extLst>
          </p:cNvPr>
          <p:cNvSpPr txBox="1"/>
          <p:nvPr/>
        </p:nvSpPr>
        <p:spPr>
          <a:xfrm>
            <a:off x="237834" y="171591"/>
            <a:ext cx="11538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/>
              <a:t>Smart Config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406B1-8FD0-48BD-F45B-C71F08519E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11723" y="817040"/>
            <a:ext cx="672638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device to 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hardcoding SSID and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Steps:</a:t>
            </a:r>
            <a:endParaRPr lang="en-US" altLang="zh-CN" sz="2400" dirty="0"/>
          </a:p>
          <a:p>
            <a:r>
              <a:rPr lang="en-US" altLang="zh-CN" sz="2000" b="1" dirty="0"/>
              <a:t>Mobile App:</a:t>
            </a:r>
            <a:r>
              <a:rPr lang="en-US" altLang="zh-CN" sz="2000" dirty="0"/>
              <a:t> User enters </a:t>
            </a:r>
            <a:r>
              <a:rPr lang="en-US" altLang="zh-CN" sz="2000" dirty="0" err="1"/>
              <a:t>WiFi</a:t>
            </a:r>
            <a:r>
              <a:rPr lang="en-US" altLang="zh-CN" sz="2000" dirty="0"/>
              <a:t> info and starts </a:t>
            </a:r>
            <a:r>
              <a:rPr lang="en-US" altLang="zh-CN" sz="2000" dirty="0" err="1"/>
              <a:t>SmartConfig</a:t>
            </a:r>
            <a:r>
              <a:rPr lang="en-US" altLang="zh-CN" sz="2000" dirty="0"/>
              <a:t>.</a:t>
            </a:r>
          </a:p>
          <a:p>
            <a:r>
              <a:rPr lang="en-US" altLang="zh-CN" sz="2000" b="1" dirty="0"/>
              <a:t>Broadcast:</a:t>
            </a:r>
            <a:r>
              <a:rPr lang="en-US" altLang="zh-CN" sz="2000" dirty="0"/>
              <a:t> App sends SSID and password via UDP packets.</a:t>
            </a:r>
          </a:p>
          <a:p>
            <a:r>
              <a:rPr lang="en-US" altLang="zh-CN" sz="2000" b="1" dirty="0"/>
              <a:t>ESP8266 Simulation:</a:t>
            </a:r>
            <a:r>
              <a:rPr lang="en-US" altLang="zh-CN" sz="2000" dirty="0"/>
              <a:t> </a:t>
            </a:r>
            <a:r>
              <a:rPr lang="en-US" altLang="zh-CN" sz="2000" dirty="0" err="1"/>
              <a:t>WiFi</a:t>
            </a:r>
            <a:r>
              <a:rPr lang="en-US" altLang="zh-CN" sz="2000" dirty="0"/>
              <a:t> Task listens and decodes credentials.</a:t>
            </a:r>
          </a:p>
          <a:p>
            <a:r>
              <a:rPr lang="en-US" altLang="zh-CN" sz="2000" b="1" dirty="0"/>
              <a:t>Connect:</a:t>
            </a:r>
            <a:r>
              <a:rPr lang="en-US" altLang="zh-CN" sz="2000" dirty="0"/>
              <a:t> Module joins </a:t>
            </a:r>
            <a:r>
              <a:rPr lang="en-US" altLang="zh-CN" sz="2000" dirty="0" err="1"/>
              <a:t>WiFi</a:t>
            </a:r>
            <a:r>
              <a:rPr lang="en-US" altLang="zh-CN" sz="2000" dirty="0"/>
              <a:t> and reports status.</a:t>
            </a:r>
          </a:p>
          <a:p>
            <a:r>
              <a:rPr lang="en-US" altLang="zh-CN" sz="2000" b="1" dirty="0"/>
              <a:t>Web Interface:</a:t>
            </a:r>
            <a:r>
              <a:rPr lang="en-US" altLang="zh-CN" sz="2000" dirty="0"/>
              <a:t> Shows “Connected” and enables remote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Key Points:</a:t>
            </a:r>
            <a:endParaRPr lang="en-US" altLang="zh-CN" sz="2400" dirty="0"/>
          </a:p>
          <a:p>
            <a:r>
              <a:rPr lang="en-US" altLang="zh-CN" sz="2000" dirty="0"/>
              <a:t>Easy setup, no firmware changes.</a:t>
            </a:r>
          </a:p>
          <a:p>
            <a:r>
              <a:rPr lang="en-US" altLang="zh-CN" sz="2000" dirty="0"/>
              <a:t>Works in QEMU with AT command emulation.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92D080-8D9D-D7F4-B8DE-FA3A646FDA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14" t="6686" r="6855" b="24141"/>
          <a:stretch>
            <a:fillRect/>
          </a:stretch>
        </p:blipFill>
        <p:spPr>
          <a:xfrm>
            <a:off x="7038109" y="1302326"/>
            <a:ext cx="5070764" cy="27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8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3592-0CB2-6DCE-8145-8DEAA57C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EC3916B-AF3F-F55B-85E4-C3A61DA1C45B}"/>
              </a:ext>
            </a:extLst>
          </p:cNvPr>
          <p:cNvSpPr txBox="1"/>
          <p:nvPr/>
        </p:nvSpPr>
        <p:spPr>
          <a:xfrm>
            <a:off x="237834" y="171591"/>
            <a:ext cx="11538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/>
              <a:t>Web control Panel /</a:t>
            </a:r>
            <a:r>
              <a:rPr lang="en-US" altLang="zh-CN" sz="3200" b="1" dirty="0">
                <a:hlinkClick r:id="rId3" action="ppaction://hlinkfile"/>
              </a:rPr>
              <a:t>Show Demo</a:t>
            </a:r>
            <a:endParaRPr lang="en-US" altLang="zh-CN" sz="3200" b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8AB33CD-2EAC-4314-3BC6-C41CC2D65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88" y="915975"/>
            <a:ext cx="671714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Status Display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Smart config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Indoor Temperature &amp; Humidity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Outdoor Temperature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000" dirty="0">
                <a:latin typeface="Arial" panose="020B0604020202020204" pitchFamily="34" charset="0"/>
              </a:rPr>
              <a:t>Auto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Temperature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Bilingual Interface: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Chinese / English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Updates: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from QEMU firmware via Bridge Server (JSON over HTTP)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 &amp; 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Scheduling:Auto-Off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countdown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ON/OFF times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73AA01-94C1-FDBC-AD3C-A51A4877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28" r="19936" b="1279"/>
          <a:stretch>
            <a:fillRect/>
          </a:stretch>
        </p:blipFill>
        <p:spPr>
          <a:xfrm>
            <a:off x="7729268" y="171591"/>
            <a:ext cx="4462732" cy="58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7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994" y="2822387"/>
            <a:ext cx="11796583" cy="10772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H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altLang="zh-HK" sz="2800" b="1" dirty="0" err="1">
                <a:latin typeface="Arial" charset="0"/>
                <a:ea typeface="Arial" charset="0"/>
                <a:cs typeface="Arial" charset="0"/>
              </a:rPr>
              <a:t>Thank</a:t>
            </a:r>
            <a:r>
              <a:rPr lang="pt-BR" altLang="zh-HK" sz="2800" b="1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BR" altLang="zh-HK" sz="2800" b="1" dirty="0" err="1">
                <a:latin typeface="Arial" charset="0"/>
                <a:ea typeface="Arial" charset="0"/>
                <a:cs typeface="Arial" charset="0"/>
              </a:rPr>
              <a:t>You</a:t>
            </a:r>
            <a:r>
              <a:rPr lang="pt-BR" altLang="zh-HK" sz="2800" b="1" dirty="0">
                <a:latin typeface="Arial" charset="0"/>
                <a:ea typeface="Arial" charset="0"/>
                <a:cs typeface="Arial" charset="0"/>
              </a:rPr>
              <a:t>!</a:t>
            </a:r>
          </a:p>
          <a:p>
            <a:pPr algn="ctr"/>
            <a:r>
              <a:rPr lang="pt-BR" altLang="zh-HK" sz="1200" dirty="0">
                <a:latin typeface="Arial" charset="0"/>
                <a:ea typeface="Arial" charset="0"/>
                <a:cs typeface="Arial" charset="0"/>
              </a:rPr>
              <a:t>Avenida da Universidade, Taipa, Macau, China</a:t>
            </a:r>
          </a:p>
          <a:p>
            <a:pPr algn="ctr"/>
            <a:r>
              <a:rPr lang="pt-BR" altLang="zh-HK" sz="1200" dirty="0">
                <a:latin typeface="Arial" charset="0"/>
                <a:ea typeface="Arial" charset="0"/>
                <a:cs typeface="Arial" charset="0"/>
              </a:rPr>
              <a:t>Tel :  (853) 8822 8833       Fax :  (853) 8822 8822       </a:t>
            </a:r>
          </a:p>
          <a:p>
            <a:pPr algn="ctr"/>
            <a:r>
              <a:rPr lang="pt-BR" altLang="zh-HK" sz="1200" dirty="0">
                <a:latin typeface="Arial" charset="0"/>
                <a:ea typeface="Arial" charset="0"/>
                <a:cs typeface="Arial" charset="0"/>
              </a:rPr>
              <a:t>Email :  mc55557@um.edu.mo    Website :  www.um.edu.mo</a:t>
            </a:r>
            <a:endParaRPr lang="zh-HK" altLang="en-US" sz="1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 PPT 40TH template_1 (16-9 ratio)" id="{8F98D542-AD4B-5D43-9040-B720350044F6}" vid="{C43EBE7E-FB6E-614C-A2CB-67DAD2DFD4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 PPT 40TH template_1 (16-9 ratio)</Template>
  <TotalTime>429</TotalTime>
  <Words>1009</Words>
  <Application>Microsoft Office PowerPoint</Application>
  <PresentationFormat>宽屏</PresentationFormat>
  <Paragraphs>130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Wei Jiannan</cp:lastModifiedBy>
  <cp:revision>44</cp:revision>
  <dcterms:created xsi:type="dcterms:W3CDTF">2020-12-15T03:28:37Z</dcterms:created>
  <dcterms:modified xsi:type="dcterms:W3CDTF">2025-11-18T11:25:06Z</dcterms:modified>
</cp:coreProperties>
</file>